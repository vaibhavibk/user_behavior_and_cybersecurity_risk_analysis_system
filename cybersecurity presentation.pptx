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4" r:id="rId4"/>
    <p:sldId id="266" r:id="rId5"/>
    <p:sldId id="260" r:id="rId6"/>
    <p:sldId id="261" r:id="rId7"/>
    <p:sldId id="259"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5" autoAdjust="0"/>
    <p:restoredTop sz="94660"/>
  </p:normalViewPr>
  <p:slideViewPr>
    <p:cSldViewPr snapToGrid="0">
      <p:cViewPr varScale="1">
        <p:scale>
          <a:sx n="72" d="100"/>
          <a:sy n="72" d="100"/>
        </p:scale>
        <p:origin x="6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3B96532-7C3D-41B3-9D3F-975C91351B81}"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2708349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3B96532-7C3D-41B3-9D3F-975C91351B81}"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482187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B96532-7C3D-41B3-9D3F-975C91351B81}"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1060742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3B96532-7C3D-41B3-9D3F-975C91351B81}" type="datetimeFigureOut">
              <a:rPr lang="en-IN" smtClean="0"/>
              <a:t>08-10-2026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2989174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3B96532-7C3D-41B3-9D3F-975C91351B81}" type="datetimeFigureOut">
              <a:rPr lang="en-IN" smtClean="0"/>
              <a:t>08-10-2026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2519684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3B96532-7C3D-41B3-9D3F-975C91351B81}" type="datetimeFigureOut">
              <a:rPr lang="en-IN" smtClean="0"/>
              <a:t>08-10-2026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1333217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B96532-7C3D-41B3-9D3F-975C91351B81}" type="datetimeFigureOut">
              <a:rPr lang="en-IN" smtClean="0"/>
              <a:t>08-10-2026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1206223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3B96532-7C3D-41B3-9D3F-975C91351B81}" type="datetimeFigureOut">
              <a:rPr lang="en-IN" smtClean="0"/>
              <a:t>08-10-2026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3395627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3B96532-7C3D-41B3-9D3F-975C91351B81}" type="datetimeFigureOut">
              <a:rPr lang="en-IN" smtClean="0"/>
              <a:t>08-10-2026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621046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3B96532-7C3D-41B3-9D3F-975C91351B81}"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4014616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3B96532-7C3D-41B3-9D3F-975C91351B81}" type="datetimeFigureOut">
              <a:rPr lang="en-IN" smtClean="0"/>
              <a:t>08-10-2026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6DEAA5-EE03-45EB-98F1-DD8888081F04}" type="slidenum">
              <a:rPr lang="en-IN" smtClean="0"/>
              <a:t>‹#›</a:t>
            </a:fld>
            <a:endParaRPr lang="en-IN"/>
          </a:p>
        </p:txBody>
      </p:sp>
    </p:spTree>
    <p:extLst>
      <p:ext uri="{BB962C8B-B14F-4D97-AF65-F5344CB8AC3E}">
        <p14:creationId xmlns:p14="http://schemas.microsoft.com/office/powerpoint/2010/main" val="1025412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B96532-7C3D-41B3-9D3F-975C91351B81}" type="datetimeFigureOut">
              <a:rPr lang="en-IN" smtClean="0"/>
              <a:t>08-10-2026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6DEAA5-EE03-45EB-98F1-DD8888081F04}" type="slidenum">
              <a:rPr lang="en-IN" smtClean="0"/>
              <a:t>‹#›</a:t>
            </a:fld>
            <a:endParaRPr lang="en-IN"/>
          </a:p>
        </p:txBody>
      </p:sp>
    </p:spTree>
    <p:extLst>
      <p:ext uri="{BB962C8B-B14F-4D97-AF65-F5344CB8AC3E}">
        <p14:creationId xmlns:p14="http://schemas.microsoft.com/office/powerpoint/2010/main" val="670454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7999"/>
          </a:xfrm>
        </p:spPr>
      </p:pic>
      <p:sp>
        <p:nvSpPr>
          <p:cNvPr id="5" name="TextBox 4"/>
          <p:cNvSpPr txBox="1"/>
          <p:nvPr/>
        </p:nvSpPr>
        <p:spPr>
          <a:xfrm>
            <a:off x="-251792" y="225286"/>
            <a:ext cx="12019722" cy="1323439"/>
          </a:xfrm>
          <a:prstGeom prst="rect">
            <a:avLst/>
          </a:prstGeom>
          <a:noFill/>
        </p:spPr>
        <p:txBody>
          <a:bodyPr wrap="square" rtlCol="0">
            <a:spAutoFit/>
          </a:bodyPr>
          <a:lstStyle/>
          <a:p>
            <a:r>
              <a:rPr lang="en-IN" sz="4000" b="1" dirty="0" smtClean="0">
                <a:solidFill>
                  <a:schemeClr val="bg1"/>
                </a:solidFill>
                <a:latin typeface="Algerian" panose="04020705040A02060702" pitchFamily="82" charset="0"/>
              </a:rPr>
              <a:t>    USER BEHAVIOR &amp; </a:t>
            </a:r>
          </a:p>
          <a:p>
            <a:r>
              <a:rPr lang="en-IN" sz="4000" b="1" dirty="0">
                <a:solidFill>
                  <a:schemeClr val="bg1"/>
                </a:solidFill>
                <a:latin typeface="Algerian" panose="04020705040A02060702" pitchFamily="82" charset="0"/>
              </a:rPr>
              <a:t> </a:t>
            </a:r>
            <a:r>
              <a:rPr lang="en-IN" sz="4000" b="1" dirty="0" smtClean="0">
                <a:solidFill>
                  <a:schemeClr val="bg1"/>
                </a:solidFill>
                <a:latin typeface="Algerian" panose="04020705040A02060702" pitchFamily="82" charset="0"/>
              </a:rPr>
              <a:t>              CYBERSECURITY RISK ANALYSIS SYSTEM</a:t>
            </a:r>
            <a:r>
              <a:rPr lang="en-IN" sz="3600" dirty="0" smtClean="0"/>
              <a:t>                                                                                                              </a:t>
            </a:r>
            <a:endParaRPr lang="en-IN" sz="2800" b="1" i="1" dirty="0">
              <a:solidFill>
                <a:schemeClr val="bg1"/>
              </a:solidFill>
            </a:endParaRPr>
          </a:p>
        </p:txBody>
      </p:sp>
    </p:spTree>
    <p:extLst>
      <p:ext uri="{BB962C8B-B14F-4D97-AF65-F5344CB8AC3E}">
        <p14:creationId xmlns:p14="http://schemas.microsoft.com/office/powerpoint/2010/main" val="4188719945"/>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5830957" y="278295"/>
            <a:ext cx="6361042" cy="6202017"/>
          </a:xfrm>
        </p:spPr>
        <p:txBody>
          <a:bodyPr>
            <a:normAutofit lnSpcReduction="10000"/>
          </a:bodyPr>
          <a:lstStyle/>
          <a:p>
            <a:pPr marL="0" indent="0">
              <a:buNone/>
            </a:pPr>
            <a:r>
              <a:rPr lang="en-US" sz="3500" dirty="0" smtClean="0">
                <a:latin typeface="Arial Black" panose="020B0A04020102020204" pitchFamily="34" charset="0"/>
              </a:rPr>
              <a:t>Tools and Technology used :</a:t>
            </a:r>
          </a:p>
          <a:p>
            <a:pPr>
              <a:buSzPct val="90000"/>
            </a:pPr>
            <a:endParaRPr lang="en-US" dirty="0" smtClean="0"/>
          </a:p>
          <a:p>
            <a:pPr>
              <a:buSzPct val="90000"/>
            </a:pPr>
            <a:r>
              <a:rPr lang="en-US" sz="2700" b="1" dirty="0" smtClean="0"/>
              <a:t>Python</a:t>
            </a:r>
            <a:r>
              <a:rPr lang="en-US" sz="2700" dirty="0" smtClean="0"/>
              <a:t> - </a:t>
            </a:r>
            <a:r>
              <a:rPr lang="en-US" sz="2700" dirty="0"/>
              <a:t>For taking user input, connecting to the database, and performing risk analysis.</a:t>
            </a:r>
          </a:p>
          <a:p>
            <a:pPr>
              <a:buSzPct val="90000"/>
            </a:pPr>
            <a:r>
              <a:rPr lang="en-US" sz="2700" b="1" dirty="0"/>
              <a:t>MySQL</a:t>
            </a:r>
            <a:r>
              <a:rPr lang="en-US" sz="2700" dirty="0"/>
              <a:t> </a:t>
            </a:r>
            <a:r>
              <a:rPr lang="en-US" sz="2700" dirty="0" smtClean="0"/>
              <a:t>- </a:t>
            </a:r>
            <a:r>
              <a:rPr lang="en-US" sz="2700" dirty="0"/>
              <a:t>For storing users, devices, login history, and risk-related data.</a:t>
            </a:r>
          </a:p>
          <a:p>
            <a:pPr>
              <a:buSzPct val="90000"/>
            </a:pPr>
            <a:r>
              <a:rPr lang="en-US" sz="2700" b="1" dirty="0"/>
              <a:t>SQL</a:t>
            </a:r>
            <a:r>
              <a:rPr lang="en-US" sz="2700" dirty="0"/>
              <a:t> </a:t>
            </a:r>
            <a:r>
              <a:rPr lang="en-US" sz="2700" dirty="0" smtClean="0"/>
              <a:t>- </a:t>
            </a:r>
            <a:r>
              <a:rPr lang="en-US" sz="2700" dirty="0"/>
              <a:t>For querying and analyzing cybersecurity data.</a:t>
            </a:r>
          </a:p>
          <a:p>
            <a:pPr>
              <a:buSzPct val="90000"/>
            </a:pPr>
            <a:r>
              <a:rPr lang="en-US" sz="2700" b="1" dirty="0"/>
              <a:t>Power BI </a:t>
            </a:r>
            <a:r>
              <a:rPr lang="en-US" sz="2700" dirty="0" smtClean="0"/>
              <a:t>- </a:t>
            </a:r>
            <a:r>
              <a:rPr lang="en-US" sz="2700" dirty="0"/>
              <a:t>For creating dashboards and visualizing user behavior and security insights.</a:t>
            </a:r>
          </a:p>
          <a:p>
            <a:pPr>
              <a:buSzPct val="90000"/>
            </a:pPr>
            <a:r>
              <a:rPr lang="en-US" sz="2700" b="1" dirty="0" smtClean="0"/>
              <a:t>jupyter notebook </a:t>
            </a:r>
            <a:r>
              <a:rPr lang="en-US" sz="2700" dirty="0" smtClean="0"/>
              <a:t>- </a:t>
            </a:r>
            <a:r>
              <a:rPr lang="en-US" sz="2700" dirty="0"/>
              <a:t>For developing and running the Python analysis</a:t>
            </a:r>
            <a:r>
              <a:rPr lang="en-US" sz="2700" dirty="0" smtClean="0"/>
              <a:t>.</a:t>
            </a:r>
            <a:endParaRPr lang="en-US" sz="2700" dirty="0"/>
          </a:p>
        </p:txBody>
      </p:sp>
      <p:pic>
        <p:nvPicPr>
          <p:cNvPr id="23" name="Content Placeholder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765" y="172279"/>
            <a:ext cx="5287617" cy="6559825"/>
          </a:xfrm>
          <a:prstGeom prst="rect">
            <a:avLst/>
          </a:prstGeom>
          <a:effectLst>
            <a:softEdge rad="63500"/>
          </a:effectLst>
        </p:spPr>
      </p:pic>
    </p:spTree>
    <p:extLst>
      <p:ext uri="{BB962C8B-B14F-4D97-AF65-F5344CB8AC3E}">
        <p14:creationId xmlns:p14="http://schemas.microsoft.com/office/powerpoint/2010/main" val="2891295809"/>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106016" y="516835"/>
            <a:ext cx="5844210" cy="6096000"/>
          </a:xfrm>
        </p:spPr>
        <p:txBody>
          <a:bodyPr>
            <a:normAutofit fontScale="55000" lnSpcReduction="20000"/>
          </a:bodyPr>
          <a:lstStyle/>
          <a:p>
            <a:pPr marL="0" indent="0">
              <a:buNone/>
            </a:pPr>
            <a:r>
              <a:rPr lang="en-US" sz="5000" b="1" dirty="0" smtClean="0">
                <a:latin typeface="Arial Black" panose="020B0A04020102020204" pitchFamily="34" charset="0"/>
              </a:rPr>
              <a:t>Problem Statement :</a:t>
            </a:r>
          </a:p>
          <a:p>
            <a:pPr marL="0" indent="0">
              <a:buNone/>
            </a:pPr>
            <a:endParaRPr lang="en-US" sz="3500" b="1" dirty="0" smtClean="0">
              <a:latin typeface="Arial Black" panose="020B0A04020102020204" pitchFamily="34" charset="0"/>
            </a:endParaRPr>
          </a:p>
          <a:p>
            <a:r>
              <a:rPr lang="en-US" sz="4400" dirty="0" smtClean="0"/>
              <a:t>Large </a:t>
            </a:r>
            <a:r>
              <a:rPr lang="en-US" sz="4400" dirty="0"/>
              <a:t>amount of user login data is difficult to monitor manually.</a:t>
            </a:r>
          </a:p>
          <a:p>
            <a:r>
              <a:rPr lang="en-US" sz="4400" dirty="0"/>
              <a:t>Suspicious login activities can be missed.</a:t>
            </a:r>
          </a:p>
          <a:p>
            <a:r>
              <a:rPr lang="en-US" sz="4400" dirty="0"/>
              <a:t>New devices and unusual locations may indicate potential security risks.</a:t>
            </a:r>
          </a:p>
          <a:p>
            <a:r>
              <a:rPr lang="en-US" sz="4400" dirty="0"/>
              <a:t>There is a need for an automated system to analyze user behavior.</a:t>
            </a:r>
          </a:p>
          <a:p>
            <a:r>
              <a:rPr lang="en-US" sz="4400" dirty="0"/>
              <a:t>The system helps identify potential risks and provides security recommendations</a:t>
            </a:r>
            <a:r>
              <a:rPr lang="en-US" sz="4400" dirty="0" smtClean="0"/>
              <a:t>.</a:t>
            </a:r>
          </a:p>
          <a:p>
            <a:r>
              <a:rPr lang="en-US" sz="4400" dirty="0" smtClean="0"/>
              <a:t>The User Behavior &amp; Cybersecurity Risk Analysis System aims to solve this problem by analyzing user activity, devices, and locations to identify unusual behavior and provide security insights and recommendations.</a:t>
            </a:r>
            <a:endParaRPr lang="en-IN" sz="4400" dirty="0"/>
          </a:p>
        </p:txBody>
      </p:sp>
      <p:pic>
        <p:nvPicPr>
          <p:cNvPr id="11" name="Picture 10"/>
          <p:cNvPicPr>
            <a:picLocks noChangeAspect="1"/>
          </p:cNvPicPr>
          <p:nvPr/>
        </p:nvPicPr>
        <p:blipFill>
          <a:blip r:embed="rId2"/>
          <a:stretch>
            <a:fillRect/>
          </a:stretch>
        </p:blipFill>
        <p:spPr>
          <a:xfrm>
            <a:off x="6084084" y="424069"/>
            <a:ext cx="5988646" cy="5967170"/>
          </a:xfrm>
          <a:prstGeom prst="rect">
            <a:avLst/>
          </a:prstGeom>
          <a:effectLst>
            <a:softEdge rad="127000"/>
          </a:effectLst>
        </p:spPr>
      </p:pic>
    </p:spTree>
    <p:extLst>
      <p:ext uri="{BB962C8B-B14F-4D97-AF65-F5344CB8AC3E}">
        <p14:creationId xmlns:p14="http://schemas.microsoft.com/office/powerpoint/2010/main" val="3663796257"/>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6029739" y="465678"/>
            <a:ext cx="6029739" cy="6188765"/>
          </a:xfrm>
        </p:spPr>
        <p:txBody>
          <a:bodyPr>
            <a:normAutofit lnSpcReduction="10000"/>
          </a:bodyPr>
          <a:lstStyle/>
          <a:p>
            <a:pPr marL="0" indent="0">
              <a:buNone/>
            </a:pPr>
            <a:r>
              <a:rPr lang="en-IN" sz="3500" dirty="0" smtClean="0">
                <a:latin typeface="Arial Black" panose="020B0A04020102020204" pitchFamily="34" charset="0"/>
              </a:rPr>
              <a:t>Project Objectives :</a:t>
            </a:r>
          </a:p>
          <a:p>
            <a:pPr marL="0" indent="0">
              <a:buNone/>
            </a:pPr>
            <a:endParaRPr lang="en-IN" sz="3500" dirty="0" smtClean="0">
              <a:latin typeface="Arial Black" panose="020B0A04020102020204" pitchFamily="34" charset="0"/>
            </a:endParaRPr>
          </a:p>
          <a:p>
            <a:r>
              <a:rPr lang="en-US" sz="2600" dirty="0"/>
              <a:t>To analyze user login activities and patterns.</a:t>
            </a:r>
          </a:p>
          <a:p>
            <a:r>
              <a:rPr lang="en-US" sz="2600" dirty="0"/>
              <a:t>To monitor user, device, and location information.</a:t>
            </a:r>
          </a:p>
          <a:p>
            <a:r>
              <a:rPr lang="en-US" sz="2600" dirty="0"/>
              <a:t>To identify unusual login behavior, such as logins from new devices or unusual locations.</a:t>
            </a:r>
          </a:p>
          <a:p>
            <a:r>
              <a:rPr lang="en-US" sz="2600" dirty="0" smtClean="0"/>
              <a:t>To </a:t>
            </a:r>
            <a:r>
              <a:rPr lang="en-US" sz="2600" dirty="0"/>
              <a:t>provide security recommendations based on the identified activity.</a:t>
            </a:r>
          </a:p>
          <a:p>
            <a:r>
              <a:rPr lang="en-US" sz="2600" dirty="0"/>
              <a:t>To visualize login and risk-related information using Power BI dashboards.</a:t>
            </a:r>
          </a:p>
          <a:p>
            <a:r>
              <a:rPr lang="en-US" sz="2600" dirty="0"/>
              <a:t>To use Python and SQL for automated data processing and analysis.</a:t>
            </a:r>
            <a:endParaRPr lang="en-IN" sz="2600" dirty="0"/>
          </a:p>
        </p:txBody>
      </p:sp>
      <p:pic>
        <p:nvPicPr>
          <p:cNvPr id="13" name="Picture 12"/>
          <p:cNvPicPr>
            <a:picLocks noChangeAspect="1"/>
          </p:cNvPicPr>
          <p:nvPr/>
        </p:nvPicPr>
        <p:blipFill>
          <a:blip r:embed="rId2"/>
          <a:stretch>
            <a:fillRect/>
          </a:stretch>
        </p:blipFill>
        <p:spPr>
          <a:xfrm>
            <a:off x="0" y="465678"/>
            <a:ext cx="5804452" cy="5920015"/>
          </a:xfrm>
          <a:prstGeom prst="rect">
            <a:avLst/>
          </a:prstGeom>
        </p:spPr>
      </p:pic>
    </p:spTree>
    <p:extLst>
      <p:ext uri="{BB962C8B-B14F-4D97-AF65-F5344CB8AC3E}">
        <p14:creationId xmlns:p14="http://schemas.microsoft.com/office/powerpoint/2010/main" val="2508289250"/>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783" y="371061"/>
            <a:ext cx="5459895" cy="6473689"/>
          </a:xfrm>
        </p:spPr>
        <p:txBody>
          <a:bodyPr>
            <a:normAutofit fontScale="92500" lnSpcReduction="20000"/>
          </a:bodyPr>
          <a:lstStyle/>
          <a:p>
            <a:pPr marL="0" indent="0">
              <a:buNone/>
            </a:pPr>
            <a:r>
              <a:rPr lang="en-IN" sz="3800" dirty="0">
                <a:latin typeface="Arial Black" panose="020B0A04020102020204" pitchFamily="34" charset="0"/>
              </a:rPr>
              <a:t>Database Design </a:t>
            </a:r>
            <a:endParaRPr lang="en-IN" sz="3800" dirty="0" smtClean="0">
              <a:latin typeface="Arial Black" panose="020B0A04020102020204" pitchFamily="34" charset="0"/>
            </a:endParaRPr>
          </a:p>
          <a:p>
            <a:pPr marL="0" indent="0">
              <a:buNone/>
            </a:pPr>
            <a:r>
              <a:rPr lang="en-IN" sz="3800" dirty="0" smtClean="0">
                <a:latin typeface="Arial Black" panose="020B0A04020102020204" pitchFamily="34" charset="0"/>
              </a:rPr>
              <a:t>Overview :</a:t>
            </a:r>
            <a:endParaRPr lang="en-IN" sz="3800" dirty="0">
              <a:latin typeface="Arial Black" panose="020B0A04020102020204" pitchFamily="34" charset="0"/>
            </a:endParaRPr>
          </a:p>
          <a:p>
            <a:endParaRPr lang="en-IN" dirty="0"/>
          </a:p>
          <a:p>
            <a:r>
              <a:rPr lang="en-US" sz="2900" b="1" dirty="0"/>
              <a:t>Users</a:t>
            </a:r>
            <a:r>
              <a:rPr lang="en-US" sz="2900" dirty="0"/>
              <a:t>: Stores user details such as User ID, name, department, and role.</a:t>
            </a:r>
          </a:p>
          <a:p>
            <a:r>
              <a:rPr lang="en-US" sz="2900" b="1" dirty="0"/>
              <a:t>Devices</a:t>
            </a:r>
            <a:r>
              <a:rPr lang="en-US" sz="2900" dirty="0"/>
              <a:t>: Stores device information such as device name, type, operating system, and first-seen date.</a:t>
            </a:r>
          </a:p>
          <a:p>
            <a:r>
              <a:rPr lang="en-US" sz="2900" b="1" dirty="0"/>
              <a:t>Login History</a:t>
            </a:r>
            <a:r>
              <a:rPr lang="en-US" sz="2900" dirty="0"/>
              <a:t>: </a:t>
            </a:r>
            <a:r>
              <a:rPr lang="en-US" sz="2900" dirty="0" smtClean="0"/>
              <a:t>Stores Records of each </a:t>
            </a:r>
            <a:r>
              <a:rPr lang="en-US" sz="2900" dirty="0"/>
              <a:t>login attempt along with date/time, location, status, user, and device.</a:t>
            </a:r>
          </a:p>
          <a:p>
            <a:r>
              <a:rPr lang="en-US" sz="2900" b="1" dirty="0"/>
              <a:t>Risk Result</a:t>
            </a:r>
            <a:r>
              <a:rPr lang="en-US" sz="2900" dirty="0"/>
              <a:t>: Stores </a:t>
            </a:r>
            <a:r>
              <a:rPr lang="en-US" sz="2900" dirty="0" smtClean="0"/>
              <a:t>the </a:t>
            </a:r>
            <a:r>
              <a:rPr lang="en-US" sz="2900" dirty="0"/>
              <a:t>result of each login </a:t>
            </a:r>
            <a:r>
              <a:rPr lang="en-US" sz="2900" dirty="0" smtClean="0"/>
              <a:t>activity like risk </a:t>
            </a:r>
            <a:r>
              <a:rPr lang="en-US" sz="2900" dirty="0"/>
              <a:t>level, reason, and recommendation </a:t>
            </a:r>
            <a:r>
              <a:rPr lang="en-US" sz="2900" dirty="0" smtClean="0"/>
              <a:t>for</a:t>
            </a:r>
          </a:p>
        </p:txBody>
      </p:sp>
      <p:pic>
        <p:nvPicPr>
          <p:cNvPr id="4" name="Picture 3"/>
          <p:cNvPicPr>
            <a:picLocks noChangeAspect="1"/>
          </p:cNvPicPr>
          <p:nvPr/>
        </p:nvPicPr>
        <p:blipFill>
          <a:blip r:embed="rId2"/>
          <a:stretch>
            <a:fillRect/>
          </a:stretch>
        </p:blipFill>
        <p:spPr>
          <a:xfrm>
            <a:off x="5420139" y="530089"/>
            <a:ext cx="6771861" cy="5883964"/>
          </a:xfrm>
          <a:prstGeom prst="rect">
            <a:avLst/>
          </a:prstGeom>
          <a:effectLst>
            <a:softEdge rad="63500"/>
          </a:effectLst>
        </p:spPr>
      </p:pic>
    </p:spTree>
    <p:extLst>
      <p:ext uri="{BB962C8B-B14F-4D97-AF65-F5344CB8AC3E}">
        <p14:creationId xmlns:p14="http://schemas.microsoft.com/office/powerpoint/2010/main" val="3414936232"/>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5181599" y="145774"/>
            <a:ext cx="7010401" cy="6712227"/>
          </a:xfrm>
        </p:spPr>
        <p:txBody>
          <a:bodyPr>
            <a:normAutofit fontScale="25000" lnSpcReduction="20000"/>
          </a:bodyPr>
          <a:lstStyle/>
          <a:p>
            <a:pPr marL="0" indent="0">
              <a:buNone/>
            </a:pPr>
            <a:r>
              <a:rPr lang="en-IN" sz="12000" dirty="0" smtClean="0">
                <a:latin typeface="Arial Black" panose="020B0A04020102020204" pitchFamily="34" charset="0"/>
              </a:rPr>
              <a:t>Python Implementation :</a:t>
            </a:r>
          </a:p>
          <a:p>
            <a:pPr marL="0" indent="0">
              <a:buNone/>
            </a:pPr>
            <a:r>
              <a:rPr lang="en-US" sz="7200" dirty="0" smtClean="0"/>
              <a:t>The </a:t>
            </a:r>
            <a:r>
              <a:rPr lang="en-US" sz="7200" dirty="0"/>
              <a:t>system takes the required login details  from the user</a:t>
            </a:r>
            <a:r>
              <a:rPr lang="en-US" sz="7200" dirty="0" smtClean="0"/>
              <a:t>.</a:t>
            </a:r>
            <a:endParaRPr lang="en-IN" sz="7200" dirty="0" smtClean="0"/>
          </a:p>
          <a:p>
            <a:pPr marL="0" indent="0">
              <a:buNone/>
            </a:pPr>
            <a:r>
              <a:rPr lang="en-IN" sz="7200" b="1" dirty="0" smtClean="0"/>
              <a:t>1. User Input</a:t>
            </a:r>
            <a:endParaRPr lang="en-IN" sz="7200" b="1" dirty="0"/>
          </a:p>
          <a:p>
            <a:r>
              <a:rPr lang="en-IN" sz="7200" dirty="0"/>
              <a:t>User enters User ID</a:t>
            </a:r>
          </a:p>
          <a:p>
            <a:r>
              <a:rPr lang="en-IN" sz="7200" dirty="0"/>
              <a:t>User enters </a:t>
            </a:r>
            <a:r>
              <a:rPr lang="en-IN" sz="7200" dirty="0" smtClean="0"/>
              <a:t>Location – used to check whether the login location is normal or unusual for the user</a:t>
            </a:r>
            <a:endParaRPr lang="en-IN" sz="7200" dirty="0"/>
          </a:p>
          <a:p>
            <a:r>
              <a:rPr lang="en-IN" sz="7200" dirty="0"/>
              <a:t>User enters Device Name</a:t>
            </a:r>
          </a:p>
          <a:p>
            <a:pPr marL="0" indent="0">
              <a:buNone/>
            </a:pPr>
            <a:r>
              <a:rPr lang="en-IN" sz="7200" b="1" dirty="0" smtClean="0"/>
              <a:t>2</a:t>
            </a:r>
            <a:r>
              <a:rPr lang="en-IN" sz="7200" b="1" dirty="0"/>
              <a:t>. Database </a:t>
            </a:r>
            <a:r>
              <a:rPr lang="en-IN" sz="7200" b="1" dirty="0" smtClean="0"/>
              <a:t>Connectivity</a:t>
            </a:r>
            <a:endParaRPr lang="en-IN" sz="7200" b="1" dirty="0"/>
          </a:p>
          <a:p>
            <a:r>
              <a:rPr lang="en-US" sz="7200" dirty="0"/>
              <a:t>Python connects to the MySQL database, It retrieves the required information</a:t>
            </a:r>
            <a:r>
              <a:rPr lang="en-US" sz="7200" dirty="0" smtClean="0"/>
              <a:t>.</a:t>
            </a:r>
            <a:endParaRPr lang="en-US" sz="7200" dirty="0"/>
          </a:p>
          <a:p>
            <a:pPr marL="0" indent="0">
              <a:buNone/>
            </a:pPr>
            <a:r>
              <a:rPr lang="en-IN" sz="7200" b="1" dirty="0" smtClean="0"/>
              <a:t>3</a:t>
            </a:r>
            <a:r>
              <a:rPr lang="en-IN" sz="7200" b="1" dirty="0"/>
              <a:t>. Data Validation &amp; </a:t>
            </a:r>
            <a:r>
              <a:rPr lang="en-IN" sz="7200" b="1" dirty="0" smtClean="0"/>
              <a:t>Analysis</a:t>
            </a:r>
            <a:endParaRPr lang="en-IN" sz="7200" b="1" dirty="0"/>
          </a:p>
          <a:p>
            <a:r>
              <a:rPr lang="en-US" sz="7200" dirty="0" smtClean="0"/>
              <a:t>Checks </a:t>
            </a:r>
            <a:r>
              <a:rPr lang="en-US" sz="7200" dirty="0"/>
              <a:t>whether the entered device is already registered.</a:t>
            </a:r>
          </a:p>
          <a:p>
            <a:r>
              <a:rPr lang="en-US" sz="7200" dirty="0"/>
              <a:t>Identifies whether the device is new for that user</a:t>
            </a:r>
            <a:r>
              <a:rPr lang="en-US" sz="7200" dirty="0" smtClean="0"/>
              <a:t>.</a:t>
            </a:r>
          </a:p>
          <a:p>
            <a:pPr marL="0" indent="0">
              <a:buNone/>
            </a:pPr>
            <a:r>
              <a:rPr lang="en-US" sz="7200" b="1" dirty="0" smtClean="0"/>
              <a:t>4. Risk analysis </a:t>
            </a:r>
          </a:p>
          <a:p>
            <a:r>
              <a:rPr lang="en-US" sz="7200" dirty="0"/>
              <a:t>Based on these , the system calculates a risk score </a:t>
            </a:r>
            <a:endParaRPr lang="en-US" sz="7200" dirty="0" smtClean="0"/>
          </a:p>
          <a:p>
            <a:r>
              <a:rPr lang="en-US" sz="7200" dirty="0" smtClean="0"/>
              <a:t>The </a:t>
            </a:r>
            <a:r>
              <a:rPr lang="en-US" sz="7200" dirty="0"/>
              <a:t>score is calculated by checking the user's current login behavior against their previous login history</a:t>
            </a:r>
            <a:r>
              <a:rPr lang="en-US" sz="7200" dirty="0" smtClean="0"/>
              <a:t>.</a:t>
            </a:r>
          </a:p>
          <a:p>
            <a:r>
              <a:rPr lang="en-US" sz="7200" dirty="0"/>
              <a:t>According to the risk score, the system assigns a risk level such as Low, Medium, or High. The system also identifies the reason for the </a:t>
            </a:r>
            <a:r>
              <a:rPr lang="en-US" sz="7200" dirty="0" smtClean="0"/>
              <a:t>risk</a:t>
            </a:r>
            <a:r>
              <a:rPr lang="en-US" sz="7200" dirty="0" smtClean="0"/>
              <a:t>.</a:t>
            </a:r>
          </a:p>
          <a:p>
            <a:pPr marL="0" indent="0">
              <a:buNone/>
            </a:pPr>
            <a:r>
              <a:rPr lang="en-US" sz="7200" b="1" dirty="0" smtClean="0"/>
              <a:t>5. Security Result</a:t>
            </a:r>
            <a:endParaRPr lang="en-US" sz="7200" b="1" dirty="0" smtClean="0"/>
          </a:p>
          <a:p>
            <a:r>
              <a:rPr lang="en-US" sz="7200" dirty="0"/>
              <a:t>Finally, based on the risk level, the system provides a recommendation, such as allowing the login, monitoring the activity, or taking further security </a:t>
            </a:r>
            <a:r>
              <a:rPr lang="en-US" sz="7200" dirty="0" smtClean="0"/>
              <a:t>action</a:t>
            </a:r>
            <a:r>
              <a:rPr lang="en-US" sz="7200" dirty="0"/>
              <a:t>.</a:t>
            </a:r>
            <a:endParaRPr lang="en-US" sz="7200" dirty="0" smtClean="0"/>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97" r="9918"/>
          <a:stretch/>
        </p:blipFill>
        <p:spPr>
          <a:xfrm>
            <a:off x="0" y="145774"/>
            <a:ext cx="5022574" cy="6392000"/>
          </a:xfrm>
          <a:prstGeom prst="rect">
            <a:avLst/>
          </a:prstGeom>
          <a:effectLst>
            <a:softEdge rad="127000"/>
          </a:effectLst>
        </p:spPr>
      </p:pic>
    </p:spTree>
    <p:extLst>
      <p:ext uri="{BB962C8B-B14F-4D97-AF65-F5344CB8AC3E}">
        <p14:creationId xmlns:p14="http://schemas.microsoft.com/office/powerpoint/2010/main" val="2514432827"/>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531" y="503583"/>
            <a:ext cx="6042991" cy="6135755"/>
          </a:xfrm>
        </p:spPr>
        <p:txBody>
          <a:bodyPr/>
          <a:lstStyle/>
          <a:p>
            <a:pPr marL="0" indent="0">
              <a:buNone/>
            </a:pPr>
            <a:r>
              <a:rPr lang="en-IN" sz="3500" dirty="0">
                <a:latin typeface="Arial Black" panose="020B0A04020102020204" pitchFamily="34" charset="0"/>
              </a:rPr>
              <a:t>Key Insights </a:t>
            </a:r>
            <a:r>
              <a:rPr lang="en-IN" sz="3500" dirty="0" smtClean="0">
                <a:latin typeface="Arial Black" panose="020B0A04020102020204" pitchFamily="34" charset="0"/>
              </a:rPr>
              <a:t>from POWER BI Dashboard :</a:t>
            </a:r>
            <a:endParaRPr lang="en-IN" sz="3500" dirty="0">
              <a:latin typeface="Arial Black" panose="020B0A04020102020204" pitchFamily="34" charset="0"/>
            </a:endParaRPr>
          </a:p>
          <a:p>
            <a:endParaRPr lang="en-IN" dirty="0" smtClean="0"/>
          </a:p>
          <a:p>
            <a:r>
              <a:rPr lang="en-US" dirty="0"/>
              <a:t>Provides a clear view of overall user behavior</a:t>
            </a:r>
            <a:r>
              <a:rPr lang="en-US" dirty="0" smtClean="0"/>
              <a:t>.</a:t>
            </a:r>
            <a:endParaRPr lang="en-IN" dirty="0" smtClean="0"/>
          </a:p>
          <a:p>
            <a:r>
              <a:rPr lang="en-IN" sz="2700" dirty="0" smtClean="0"/>
              <a:t>Identifies </a:t>
            </a:r>
            <a:r>
              <a:rPr lang="en-IN" sz="2700" dirty="0"/>
              <a:t>unusual login patterns</a:t>
            </a:r>
            <a:r>
              <a:rPr lang="en-IN" sz="2700" dirty="0" smtClean="0"/>
              <a:t>.</a:t>
            </a:r>
            <a:endParaRPr lang="en-IN" sz="2700" dirty="0"/>
          </a:p>
          <a:p>
            <a:r>
              <a:rPr lang="en-US" sz="2700" dirty="0"/>
              <a:t>Helps monitor new or unfamiliar devices.</a:t>
            </a:r>
          </a:p>
          <a:p>
            <a:r>
              <a:rPr lang="en-US" sz="2700" dirty="0"/>
              <a:t>Highlights locations with frequent login activity.</a:t>
            </a:r>
          </a:p>
          <a:p>
            <a:r>
              <a:rPr lang="en-US" sz="2700" dirty="0" smtClean="0"/>
              <a:t>Supports cybersecurity monitoring and decision-making.</a:t>
            </a:r>
          </a:p>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7333" t="14525" r="22479" b="15478"/>
          <a:stretch/>
        </p:blipFill>
        <p:spPr>
          <a:xfrm>
            <a:off x="6321287" y="821635"/>
            <a:ext cx="5764696" cy="5194852"/>
          </a:xfrm>
          <a:prstGeom prst="rect">
            <a:avLst/>
          </a:prstGeom>
        </p:spPr>
      </p:pic>
    </p:spTree>
    <p:extLst>
      <p:ext uri="{BB962C8B-B14F-4D97-AF65-F5344CB8AC3E}">
        <p14:creationId xmlns:p14="http://schemas.microsoft.com/office/powerpoint/2010/main" val="1281550552"/>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2505" y="390942"/>
            <a:ext cx="6069495" cy="6003232"/>
          </a:xfrm>
        </p:spPr>
        <p:txBody>
          <a:bodyPr>
            <a:normAutofit fontScale="85000" lnSpcReduction="20000"/>
          </a:bodyPr>
          <a:lstStyle/>
          <a:p>
            <a:pPr marL="0" indent="0">
              <a:lnSpc>
                <a:spcPct val="110000"/>
              </a:lnSpc>
              <a:spcBef>
                <a:spcPts val="0"/>
              </a:spcBef>
              <a:buNone/>
            </a:pPr>
            <a:r>
              <a:rPr lang="en-US" sz="3800" dirty="0" smtClean="0">
                <a:latin typeface="Arial Black" panose="020B0A04020102020204" pitchFamily="34" charset="0"/>
              </a:rPr>
              <a:t>Future scope :</a:t>
            </a:r>
          </a:p>
          <a:p>
            <a:pPr marL="0" indent="0">
              <a:lnSpc>
                <a:spcPct val="110000"/>
              </a:lnSpc>
              <a:spcBef>
                <a:spcPts val="0"/>
              </a:spcBef>
              <a:buNone/>
            </a:pPr>
            <a:endParaRPr lang="en-US" sz="3800" dirty="0" smtClean="0">
              <a:latin typeface="Arial Black" panose="020B0A04020102020204" pitchFamily="34" charset="0"/>
            </a:endParaRPr>
          </a:p>
          <a:p>
            <a:pPr marL="0" indent="0">
              <a:lnSpc>
                <a:spcPct val="110000"/>
              </a:lnSpc>
              <a:spcBef>
                <a:spcPts val="0"/>
              </a:spcBef>
              <a:buNone/>
            </a:pPr>
            <a:r>
              <a:rPr lang="en-US" sz="2400" dirty="0" smtClean="0"/>
              <a:t> </a:t>
            </a:r>
            <a:r>
              <a:rPr lang="en-US" dirty="0" smtClean="0"/>
              <a:t>The future scope of our project is to make the system more intelligent and real-time. Currently, our system analyzes user login behavior, locations, devices, and login activities using SQL, Python, and Power BI. </a:t>
            </a:r>
          </a:p>
          <a:p>
            <a:pPr marL="0" indent="0">
              <a:lnSpc>
                <a:spcPct val="110000"/>
              </a:lnSpc>
              <a:spcBef>
                <a:spcPts val="0"/>
              </a:spcBef>
              <a:buNone/>
            </a:pPr>
            <a:r>
              <a:rPr lang="en-US" dirty="0" smtClean="0"/>
              <a:t>In the future, we can integrate Machine Learning to automatically detect abnormal user behavior and suspicious login patterns. So ML would make our system more adaptive and capable of detecting unknown anomalies. We can also add Multi-Factor Authentication. This can help organizations detect potential security threats earlier and improve their overall cybersecurity.</a:t>
            </a:r>
            <a:endParaRPr lang="en-IN" dirty="0"/>
          </a:p>
        </p:txBody>
      </p:sp>
      <p:pic>
        <p:nvPicPr>
          <p:cNvPr id="4" name="Picture 3"/>
          <p:cNvPicPr>
            <a:picLocks noChangeAspect="1"/>
          </p:cNvPicPr>
          <p:nvPr/>
        </p:nvPicPr>
        <p:blipFill>
          <a:blip r:embed="rId2"/>
          <a:stretch>
            <a:fillRect/>
          </a:stretch>
        </p:blipFill>
        <p:spPr>
          <a:xfrm>
            <a:off x="132522" y="596348"/>
            <a:ext cx="5791200" cy="5526156"/>
          </a:xfrm>
          <a:prstGeom prst="rect">
            <a:avLst/>
          </a:prstGeom>
          <a:effectLst>
            <a:softEdge rad="127000"/>
          </a:effectLst>
        </p:spPr>
      </p:pic>
    </p:spTree>
    <p:extLst>
      <p:ext uri="{BB962C8B-B14F-4D97-AF65-F5344CB8AC3E}">
        <p14:creationId xmlns:p14="http://schemas.microsoft.com/office/powerpoint/2010/main" val="468279301"/>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4447</TotalTime>
  <Words>474</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Algerian</vt: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42</cp:revision>
  <dcterms:created xsi:type="dcterms:W3CDTF">2026-08-27T14:34:58Z</dcterms:created>
  <dcterms:modified xsi:type="dcterms:W3CDTF">2026-10-08T17:14:21Z</dcterms:modified>
</cp:coreProperties>
</file>